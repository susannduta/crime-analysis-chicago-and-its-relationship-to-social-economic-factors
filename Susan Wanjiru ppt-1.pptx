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slideLayouts/slideLayout2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50" r:id="rId1"/>
    <p:sldMasterId id="2147483663" r:id="rId2"/>
    <p:sldMasterId id="2147483665" r:id="rId3"/>
    <p:sldMasterId id="2147483678" r:id="rId4"/>
  </p:sldMasterIdLst>
  <p:notesMasterIdLst>
    <p:notesMasterId r:id="rId20"/>
  </p:notesMasterIdLst>
  <p:sldIdLst>
    <p:sldId id="256" r:id="rId5"/>
    <p:sldId id="257" r:id="rId6"/>
    <p:sldId id="258" r:id="rId7"/>
    <p:sldId id="259" r:id="rId8"/>
    <p:sldId id="260" r:id="rId9"/>
    <p:sldId id="261" r:id="rId10"/>
    <p:sldId id="266" r:id="rId11"/>
    <p:sldId id="267" r:id="rId12"/>
    <p:sldId id="262" r:id="rId13"/>
    <p:sldId id="268" r:id="rId14"/>
    <p:sldId id="269" r:id="rId15"/>
    <p:sldId id="271" r:id="rId16"/>
    <p:sldId id="270" r:id="rId17"/>
    <p:sldId id="265" r:id="rId18"/>
    <p:sldId id="272" r:id="rId19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7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96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299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7938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9168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9825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2271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316475" y="2172733"/>
            <a:ext cx="4563200" cy="20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316475" y="4196067"/>
            <a:ext cx="4809600" cy="4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133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3524438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57907467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Google Shape;18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28625861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Google Shape;23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3445172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609600" y="548633"/>
            <a:ext cx="10972800" cy="6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4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4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4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4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4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4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4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4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4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9035310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10203980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12478285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6" name="Google Shape;36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9" name="Google Shape;39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86429996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2" name="Google Shape;42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4842036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5" name="Google Shape;45;p1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1903801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33920830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3007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11330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316475" y="2172733"/>
            <a:ext cx="4563200" cy="20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316475" y="4196067"/>
            <a:ext cx="4809600" cy="4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133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0930243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18117590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Google Shape;18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676686171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Google Shape;23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59106441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609600" y="548633"/>
            <a:ext cx="10972800" cy="6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4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4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4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4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4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4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4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4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4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6259174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705843649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616485358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6" name="Google Shape;36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9" name="Google Shape;39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9048896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2" name="Google Shape;42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555633041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5" name="Google Shape;45;p1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25969039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625114953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890653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7265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333">
                <a:solidFill>
                  <a:schemeClr val="dk2"/>
                </a:solidFill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10316892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6307517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4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333">
                <a:solidFill>
                  <a:schemeClr val="dk2"/>
                </a:solidFill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46243671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0666467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8625840" y="-1798096"/>
            <a:ext cx="6400800" cy="64008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286000" y="4389120"/>
            <a:ext cx="5029200" cy="5029200"/>
          </a:xfrm>
          <a:prstGeom prst="ellipse">
            <a:avLst/>
          </a:prstGeom>
          <a:solidFill>
            <a:srgbClr val="B33A3A">
              <a:alpha val="22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94678" y="1142328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Multi-Dimensional Crime Analysis and</a:t>
            </a:r>
            <a:endParaRPr lang="en-US" sz="4000" dirty="0"/>
          </a:p>
          <a:p>
            <a:pPr marL="0" indent="0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Socioeconomic Risk Modeling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94678" y="2678991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25-Year Study of Chicago (2001–2025)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822960" y="4160520"/>
            <a:ext cx="1097280" cy="36576"/>
          </a:xfrm>
          <a:prstGeom prst="rect">
            <a:avLst/>
          </a:prstGeom>
          <a:solidFill>
            <a:srgbClr val="B33A3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434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Susan Nduta Wanjiru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22960" y="486111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States International University Africa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5260546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  ·  Kaggle &amp; Visual Studio Code</a:t>
            </a:r>
            <a:endParaRPr lang="en-US" sz="1600" dirty="0"/>
          </a:p>
        </p:txBody>
      </p:sp>
      <p:sp>
        <p:nvSpPr>
          <p:cNvPr id="13" name="Text 3"/>
          <p:cNvSpPr/>
          <p:nvPr/>
        </p:nvSpPr>
        <p:spPr>
          <a:xfrm>
            <a:off x="890196" y="3515667"/>
            <a:ext cx="7315200" cy="481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DSA1080 · CRIME DATA ANALYSIS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342682"/>
            <a:ext cx="11225349" cy="8186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</a:t>
            </a:r>
          </a:p>
        </p:txBody>
      </p:sp>
      <p:sp>
        <p:nvSpPr>
          <p:cNvPr id="6" name="Shape 4"/>
          <p:cNvSpPr/>
          <p:nvPr/>
        </p:nvSpPr>
        <p:spPr>
          <a:xfrm>
            <a:off x="457200" y="2004277"/>
            <a:ext cx="5193792" cy="4109139"/>
          </a:xfrm>
          <a:prstGeom prst="roundRect">
            <a:avLst>
              <a:gd name="adj" fmla="val 2299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19622"/>
            <a:ext cx="4572000" cy="5321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STATEMENT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77240" y="2697480"/>
            <a:ext cx="4709160" cy="3182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public safety strategies are </a:t>
            </a:r>
            <a:r>
              <a:rPr lang="en-US" sz="200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resources are deployed only after an incident, without accounting for the structural drivers of crime.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</a:t>
            </a:r>
            <a:r>
              <a:rPr lang="en-US" sz="200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hardship-driven violent crime</a:t>
            </a:r>
            <a:r>
              <a: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as </a:t>
            </a:r>
            <a:r>
              <a:rPr lang="en-US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opportunity-driven property crime</a:t>
            </a: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leads to inefficient police deployment and unaddressed root causes.</a:t>
            </a:r>
            <a:endParaRPr lang="en-US" sz="2000" dirty="0"/>
          </a:p>
          <a:p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3977640"/>
            <a:ext cx="44805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806440" y="210312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</a:t>
            </a:r>
            <a:r>
              <a:rPr lang="en-US" b="1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806440" y="2514600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5806440" y="25146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09360" y="2477131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Longitudinal trend analysis across five 5-year periods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806440" y="3118104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806440" y="31181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3090672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incident data with socioeconomic indicators (77 areas)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806440" y="3721608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5806440" y="37216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09360" y="3646714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correlation of poverty/income with crime type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806440" y="4325112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5806440" y="43251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46807" y="4233672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&amp; temporal mapping of high-risk windows</a:t>
            </a: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5806440" y="4928616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5806440" y="49286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09360" y="4868745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 </a:t>
            </a: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5806440" y="5532120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55321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09360" y="5504688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policy recommendations for resource allocation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397764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Used</a:t>
            </a:r>
          </a:p>
        </p:txBody>
      </p:sp>
      <p:sp>
        <p:nvSpPr>
          <p:cNvPr id="11" name="Text 9"/>
          <p:cNvSpPr/>
          <p:nvPr/>
        </p:nvSpPr>
        <p:spPr>
          <a:xfrm>
            <a:off x="3319272" y="292608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409194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0690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Chicago Crimes (2001–2025)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31520" y="448056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Incident-level records: primary type, timestamp, coordinates, district, ward, community area. 8,596,454 raw rows → 8,412,190 cleaned rows.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080760" y="4091940"/>
            <a:ext cx="5669280" cy="2148840"/>
          </a:xfrm>
          <a:prstGeom prst="roundRect">
            <a:avLst>
              <a:gd name="adj" fmla="val 3404"/>
            </a:avLst>
          </a:prstGeom>
          <a:solidFill>
            <a:srgbClr val="B33A3A"/>
          </a:solidFill>
          <a:ln/>
        </p:spPr>
      </p:sp>
      <p:sp>
        <p:nvSpPr>
          <p:cNvPr id="22" name="Text 20"/>
          <p:cNvSpPr/>
          <p:nvPr/>
        </p:nvSpPr>
        <p:spPr>
          <a:xfrm>
            <a:off x="6355080" y="40690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Chicago Socioeconomic Indicators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355080" y="4480560"/>
            <a:ext cx="5212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Census-tract metrics by community area: Hardship Index, Poverty, Unemployment, Per Capita Income. 78 rows → 77 rows (Community Areas 1–77).</a:t>
            </a:r>
            <a:endParaRPr lang="en-US" sz="2000" dirty="0"/>
          </a:p>
        </p:txBody>
      </p:sp>
      <p:sp>
        <p:nvSpPr>
          <p:cNvPr id="26" name="Rectangle 25"/>
          <p:cNvSpPr/>
          <p:nvPr/>
        </p:nvSpPr>
        <p:spPr>
          <a:xfrm>
            <a:off x="623533" y="1188720"/>
            <a:ext cx="573154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Public Datasets, One Relational Story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i="1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City of Chicago Data Portal, via </a:t>
            </a:r>
            <a:r>
              <a:rPr lang="en-US" b="1" i="1" dirty="0" err="1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Kaggle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3709633" y="1805124"/>
            <a:ext cx="2645447" cy="211373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B3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</a:t>
            </a:r>
          </a:p>
          <a:p>
            <a:pPr algn="ctr"/>
            <a:endParaRPr lang="en-US" sz="2800" dirty="0"/>
          </a:p>
          <a:p>
            <a:pPr algn="ctr"/>
            <a:r>
              <a:rPr lang="en-US" sz="2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Areas</a:t>
            </a:r>
            <a:endParaRPr lang="en-US" sz="2000" dirty="0"/>
          </a:p>
          <a:p>
            <a:pPr algn="ctr"/>
            <a:r>
              <a:rPr lang="en-US" sz="2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census metrics</a:t>
            </a:r>
            <a:endParaRPr lang="en-US" sz="2000" dirty="0"/>
          </a:p>
        </p:txBody>
      </p:sp>
      <p:sp>
        <p:nvSpPr>
          <p:cNvPr id="31" name="Oval 30"/>
          <p:cNvSpPr/>
          <p:nvPr/>
        </p:nvSpPr>
        <p:spPr>
          <a:xfrm>
            <a:off x="6586943" y="1805125"/>
            <a:ext cx="2557054" cy="211373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B3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3200" b="1" dirty="0">
              <a:solidFill>
                <a:srgbClr val="B33A3A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algn="ctr"/>
            <a:endParaRPr lang="en-US" dirty="0"/>
          </a:p>
          <a:p>
            <a:pPr algn="ctr"/>
            <a:r>
              <a:rPr lang="en-US" sz="2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columns after</a:t>
            </a:r>
            <a:endParaRPr lang="en-US" sz="2000" dirty="0"/>
          </a:p>
          <a:p>
            <a:pPr algn="ctr"/>
            <a:r>
              <a:rPr lang="en-US" sz="2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 engineering</a:t>
            </a:r>
            <a:endParaRPr lang="en-US" sz="2000" dirty="0"/>
          </a:p>
        </p:txBody>
      </p:sp>
      <p:sp>
        <p:nvSpPr>
          <p:cNvPr id="32" name="Oval 31"/>
          <p:cNvSpPr/>
          <p:nvPr/>
        </p:nvSpPr>
        <p:spPr>
          <a:xfrm>
            <a:off x="9292046" y="1789231"/>
            <a:ext cx="2457994" cy="212962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rgbClr val="B3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r>
              <a:rPr lang="en-US" sz="2400" b="1" dirty="0">
                <a:solidFill>
                  <a:srgbClr val="B3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600" b="1" dirty="0">
                <a:solidFill>
                  <a:srgbClr val="B3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yrs.</a:t>
            </a:r>
          </a:p>
          <a:p>
            <a:pPr algn="ctr"/>
            <a:endParaRPr lang="en-US" dirty="0"/>
          </a:p>
          <a:p>
            <a:pPr algn="ctr"/>
            <a:r>
              <a:rPr lang="en-US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coverage</a:t>
            </a:r>
            <a:endParaRPr lang="en-US" dirty="0"/>
          </a:p>
          <a:p>
            <a:pPr algn="ctr"/>
            <a:r>
              <a:rPr lang="en-US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2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2001</a:t>
            </a:r>
            <a:r>
              <a:rPr lang="en-US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2025)</a:t>
            </a:r>
            <a:endParaRPr lang="en-US" dirty="0"/>
          </a:p>
        </p:txBody>
      </p:sp>
      <p:sp>
        <p:nvSpPr>
          <p:cNvPr id="33" name="Oval 32"/>
          <p:cNvSpPr/>
          <p:nvPr/>
        </p:nvSpPr>
        <p:spPr>
          <a:xfrm>
            <a:off x="846146" y="1805125"/>
            <a:ext cx="2558905" cy="211373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B33A3A"/>
                </a:solidFill>
                <a:latin typeface="Cambria" pitchFamily="34" charset="0"/>
                <a:ea typeface="Cambria" pitchFamily="34" charset="-122"/>
              </a:rPr>
              <a:t>8.4M+</a:t>
            </a:r>
          </a:p>
          <a:p>
            <a:pPr algn="ctr"/>
            <a:endParaRPr lang="en-US" sz="2800" dirty="0"/>
          </a:p>
          <a:p>
            <a:pPr algn="ctr"/>
            <a:r>
              <a:rPr lang="en-US" sz="2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crime incident records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5399" y="408634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2178911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23317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2800181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Standardization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40080" y="361188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Lowercased raw column headers; spaces replaced with underscores (e.g., Primary Type → primary_type).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270940" y="2178911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47872" y="23317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3547872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25447" y="2800181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Handling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502152" y="361188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Filtered out records missing essential spatial join keys — community_area, latitude, longitude.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153912" y="2143679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9944" y="23317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409944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36792" y="2797433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 Correction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364224" y="361188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Cast community_area and year to int64; parsed raw strings into datetime64 objects.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9015984" y="2143678"/>
            <a:ext cx="2522873" cy="3331755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272016" y="23317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9272016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811076" y="2500046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Reduction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9226296" y="361188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Dropped redundant columns (id, iucr, fbi_code, x/y coordinates, block, beat) — RAM footprint cut from 500MB+ to operational levels.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31520" y="544068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30" name="Rectangle 29"/>
          <p:cNvSpPr/>
          <p:nvPr/>
        </p:nvSpPr>
        <p:spPr>
          <a:xfrm>
            <a:off x="542544" y="1062198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Municipal Logs to an Analysis-Ready Table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</a:rPr>
              <a:t>Preprocessing with pandas and </a:t>
            </a:r>
            <a:r>
              <a:rPr lang="en-US" b="1" dirty="0" err="1">
                <a:solidFill>
                  <a:srgbClr val="1B1F3B"/>
                </a:solidFill>
                <a:latin typeface="Cambria" pitchFamily="34" charset="0"/>
                <a:ea typeface="Cambria" pitchFamily="34" charset="-122"/>
              </a:rPr>
              <a:t>numpy</a:t>
            </a:r>
            <a:endParaRPr lang="en-US" dirty="0"/>
          </a:p>
        </p:txBody>
      </p:sp>
      <p:sp>
        <p:nvSpPr>
          <p:cNvPr id="31" name="Rectangle 30"/>
          <p:cNvSpPr/>
          <p:nvPr/>
        </p:nvSpPr>
        <p:spPr>
          <a:xfrm>
            <a:off x="799664" y="5475434"/>
            <a:ext cx="1056219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Feature engineering followed: 5-year temporal binning, hour/month/day-of-week extraction, a violent-vs-property severity flag (FBI UCR standard), and an inner join with socioeconomic data on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community_area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198" y="474182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 – Performed Statistical Analysis Across 77 Community Areas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198" y="1520299"/>
            <a:ext cx="679704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Table 1. Summary statistics reveal wide socioeconomic variance</a:t>
            </a:r>
            <a:endParaRPr lang="en-US" b="1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9536107"/>
              </p:ext>
            </p:extLst>
          </p:nvPr>
        </p:nvGraphicFramePr>
        <p:xfrm>
          <a:off x="457196" y="2255085"/>
          <a:ext cx="6949440" cy="2633472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Below Poverty (%)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Unemployed (%)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Capita Income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Hardship Index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(μ)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21.71%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15.34%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$25,597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49.56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18.90%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13.90%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$21,323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 Dev (σ)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11.45%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7.49%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$15,312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28.27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Minimum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3.20%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4.70%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$8,201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Maximum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56.50%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35.90%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$88,669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198" y="2093758"/>
            <a:ext cx="6949440" cy="43891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2103120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011680" y="210312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Poverty (%)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474720" y="210312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Unemployed (%)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754880" y="210312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Capita Income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217920" y="2103120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Hardship Index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635240" y="2011680"/>
            <a:ext cx="4114800" cy="2651760"/>
          </a:xfrm>
          <a:prstGeom prst="roundRect">
            <a:avLst>
              <a:gd name="adj" fmla="val 2759"/>
            </a:avLst>
          </a:prstGeom>
          <a:solidFill>
            <a:srgbClr val="F5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863840" y="2286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TREND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7863840" y="25146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B3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46%</a:t>
            </a:r>
            <a:endParaRPr lang="en-US" sz="4400" dirty="0"/>
          </a:p>
        </p:txBody>
      </p:sp>
      <p:sp>
        <p:nvSpPr>
          <p:cNvPr id="16" name="Text 13"/>
          <p:cNvSpPr/>
          <p:nvPr/>
        </p:nvSpPr>
        <p:spPr>
          <a:xfrm>
            <a:off x="7863840" y="333756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 in total reported crime volume across Chicago between 2001 and 2025, aggregated across five 5-year periods.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457200" y="4888557"/>
            <a:ext cx="5495540" cy="4606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ANALYTICAL LENSES APPLIED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457200" y="5349240"/>
            <a:ext cx="269748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9" name="Text 16"/>
          <p:cNvSpPr/>
          <p:nvPr/>
        </p:nvSpPr>
        <p:spPr>
          <a:xfrm>
            <a:off x="457200" y="53492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trend analysis</a:t>
            </a:r>
            <a:endParaRPr lang="en-US" dirty="0"/>
          </a:p>
        </p:txBody>
      </p:sp>
      <p:sp>
        <p:nvSpPr>
          <p:cNvPr id="20" name="Shape 17"/>
          <p:cNvSpPr/>
          <p:nvPr/>
        </p:nvSpPr>
        <p:spPr>
          <a:xfrm>
            <a:off x="3319272" y="5349240"/>
            <a:ext cx="269748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1" name="Text 18"/>
          <p:cNvSpPr/>
          <p:nvPr/>
        </p:nvSpPr>
        <p:spPr>
          <a:xfrm>
            <a:off x="3319272" y="53492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Crime-type distribution</a:t>
            </a:r>
            <a:endParaRPr lang="en-US" dirty="0"/>
          </a:p>
        </p:txBody>
      </p:sp>
      <p:sp>
        <p:nvSpPr>
          <p:cNvPr id="22" name="Shape 19"/>
          <p:cNvSpPr/>
          <p:nvPr/>
        </p:nvSpPr>
        <p:spPr>
          <a:xfrm>
            <a:off x="6181344" y="5349240"/>
            <a:ext cx="269748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3" name="Text 20"/>
          <p:cNvSpPr/>
          <p:nvPr/>
        </p:nvSpPr>
        <p:spPr>
          <a:xfrm>
            <a:off x="6181344" y="53492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vs. crime-type</a:t>
            </a:r>
            <a:endParaRPr lang="en-US" dirty="0"/>
          </a:p>
        </p:txBody>
      </p:sp>
      <p:sp>
        <p:nvSpPr>
          <p:cNvPr id="24" name="Shape 21"/>
          <p:cNvSpPr/>
          <p:nvPr/>
        </p:nvSpPr>
        <p:spPr>
          <a:xfrm>
            <a:off x="9043416" y="5212080"/>
            <a:ext cx="2782824" cy="5943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5" name="Text 22"/>
          <p:cNvSpPr/>
          <p:nvPr/>
        </p:nvSpPr>
        <p:spPr>
          <a:xfrm>
            <a:off x="9052560" y="52806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hotspot mapping</a:t>
            </a:r>
            <a:endParaRPr lang="en-US" dirty="0"/>
          </a:p>
        </p:txBody>
      </p:sp>
      <p:sp>
        <p:nvSpPr>
          <p:cNvPr id="26" name="Shape 23"/>
          <p:cNvSpPr/>
          <p:nvPr/>
        </p:nvSpPr>
        <p:spPr>
          <a:xfrm>
            <a:off x="457200" y="5916168"/>
            <a:ext cx="269748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7" name="Text 24"/>
          <p:cNvSpPr/>
          <p:nvPr/>
        </p:nvSpPr>
        <p:spPr>
          <a:xfrm>
            <a:off x="457200" y="591616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Socioeconomic correlation</a:t>
            </a:r>
            <a:endParaRPr lang="en-US" dirty="0"/>
          </a:p>
        </p:txBody>
      </p:sp>
      <p:sp>
        <p:nvSpPr>
          <p:cNvPr id="28" name="Shape 25"/>
          <p:cNvSpPr/>
          <p:nvPr/>
        </p:nvSpPr>
        <p:spPr>
          <a:xfrm>
            <a:off x="3319272" y="5916168"/>
            <a:ext cx="269748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9" name="Text 26"/>
          <p:cNvSpPr/>
          <p:nvPr/>
        </p:nvSpPr>
        <p:spPr>
          <a:xfrm>
            <a:off x="3319272" y="591616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× day risk windows</a:t>
            </a:r>
            <a:endParaRPr lang="en-US" dirty="0"/>
          </a:p>
        </p:txBody>
      </p:sp>
      <p:sp>
        <p:nvSpPr>
          <p:cNvPr id="30" name="Shape 27"/>
          <p:cNvSpPr/>
          <p:nvPr/>
        </p:nvSpPr>
        <p:spPr>
          <a:xfrm>
            <a:off x="6181344" y="5916168"/>
            <a:ext cx="269748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1" name="Text 28"/>
          <p:cNvSpPr/>
          <p:nvPr/>
        </p:nvSpPr>
        <p:spPr>
          <a:xfrm>
            <a:off x="6181344" y="591616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Choropleth spatial overlay</a:t>
            </a:r>
            <a:endParaRPr lang="en-US" dirty="0"/>
          </a:p>
        </p:txBody>
      </p:sp>
      <p:sp>
        <p:nvSpPr>
          <p:cNvPr id="32" name="Shape 29"/>
          <p:cNvSpPr/>
          <p:nvPr/>
        </p:nvSpPr>
        <p:spPr>
          <a:xfrm>
            <a:off x="9043416" y="5916168"/>
            <a:ext cx="269748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3" name="Text 30"/>
          <p:cNvSpPr/>
          <p:nvPr/>
        </p:nvSpPr>
        <p:spPr>
          <a:xfrm>
            <a:off x="9043416" y="591616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burden ranking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>
            <a:extLst>
              <a:ext uri="{FF2B5EF4-FFF2-40B4-BE49-F238E27FC236}">
                <a16:creationId xmlns:a16="http://schemas.microsoft.com/office/drawing/2014/main" id="{4366BEFD-3CBD-4771-BFF3-17A396D20D00}"/>
              </a:ext>
            </a:extLst>
          </p:cNvPr>
          <p:cNvSpPr/>
          <p:nvPr/>
        </p:nvSpPr>
        <p:spPr>
          <a:xfrm>
            <a:off x="8429223" y="1101852"/>
            <a:ext cx="3908738" cy="5421297"/>
          </a:xfrm>
          <a:prstGeom prst="ellipse">
            <a:avLst/>
          </a:prstGeom>
          <a:solidFill>
            <a:schemeClr val="tx2"/>
          </a:solidFill>
          <a:ln w="3175"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Overall crime dropped dramatically over two decades before leveling off in recent years, largely led by a massive decline in narcotics offenses.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This pattern was driven by law enforcement deprioritizing minor drug arrests and legalizing cannabis, while post-pandemic strains and auto theft spikes halted the long-term decline.</a:t>
            </a:r>
            <a:endParaRPr lang="en-US" sz="1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324612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Overall Crime Visualization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matplotlib, seaborn &amp; geopandas</a:t>
            </a:r>
            <a:endParaRPr lang="en-US" b="1" dirty="0"/>
          </a:p>
        </p:txBody>
      </p:sp>
      <p:sp>
        <p:nvSpPr>
          <p:cNvPr id="6" name="Shape 4"/>
          <p:cNvSpPr/>
          <p:nvPr/>
        </p:nvSpPr>
        <p:spPr>
          <a:xfrm>
            <a:off x="457199" y="2189408"/>
            <a:ext cx="8644861" cy="3845632"/>
          </a:xfrm>
          <a:prstGeom prst="roundRect">
            <a:avLst>
              <a:gd name="adj" fmla="val 139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557784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1 — Crime volume by 5-year period: steady, sustained decline.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355080" y="557784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8428A4-A6B7-44C7-AEEE-166B1D86BF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930" y="2376152"/>
            <a:ext cx="8264131" cy="289444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1A7A04A-BCF8-4528-87DF-CA3638DB6752}"/>
              </a:ext>
            </a:extLst>
          </p:cNvPr>
          <p:cNvSpPr/>
          <p:nvPr/>
        </p:nvSpPr>
        <p:spPr>
          <a:xfrm>
            <a:off x="495836" y="418564"/>
            <a:ext cx="10625071" cy="6252693"/>
          </a:xfrm>
          <a:prstGeom prst="roundRect">
            <a:avLst/>
          </a:prstGeom>
          <a:noFill/>
          <a:ln w="31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9A558E-D5FE-4D70-B263-4B036238B0E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82580" y="3780378"/>
            <a:ext cx="4555531" cy="26205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CA9E36F-A5AF-40F9-981A-A36812C1178C}"/>
              </a:ext>
            </a:extLst>
          </p:cNvPr>
          <p:cNvPicPr/>
          <p:nvPr/>
        </p:nvPicPr>
        <p:blipFill rotWithShape="1">
          <a:blip r:embed="rId3"/>
          <a:srcRect t="4981"/>
          <a:stretch/>
        </p:blipFill>
        <p:spPr bwMode="auto">
          <a:xfrm>
            <a:off x="4726545" y="473298"/>
            <a:ext cx="5119353" cy="319074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BF027DD-F643-4F73-89B4-D54B7EB23076}"/>
              </a:ext>
            </a:extLst>
          </p:cNvPr>
          <p:cNvSpPr/>
          <p:nvPr/>
        </p:nvSpPr>
        <p:spPr>
          <a:xfrm>
            <a:off x="5479961" y="3718773"/>
            <a:ext cx="5428445" cy="282369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Theft dominates overall volume and spans significantly higher-income areas, whereas narcotics, battery, and violent crimes remain concentrated in lower-income neighborhoods.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Higher-income hubs attract opportunistic property crime targeting valuable assets, while violent and drug offenses are driven by socioeconomic disadvantage in under-resourced areas.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779F397-1FC2-4EDD-B0D4-1187AB3828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340" y="797617"/>
            <a:ext cx="4100194" cy="2618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4296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1D82865-9DB7-4EC6-AE90-CD920D31C8EB}"/>
              </a:ext>
            </a:extLst>
          </p:cNvPr>
          <p:cNvSpPr/>
          <p:nvPr/>
        </p:nvSpPr>
        <p:spPr>
          <a:xfrm>
            <a:off x="1460205" y="765544"/>
            <a:ext cx="10382318" cy="581247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</a:rPr>
              <a:t>Correlation of Crime vs Socioeconomic Factors</a:t>
            </a:r>
            <a:endParaRPr lang="en-US" sz="2400" dirty="0"/>
          </a:p>
          <a:p>
            <a:pPr marL="0" indent="0">
              <a:buNone/>
            </a:pPr>
            <a:r>
              <a:rPr lang="en-US" sz="2400" dirty="0" err="1"/>
              <a:t>nge</a:t>
            </a:r>
            <a:endParaRPr 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49175C-B1F6-478D-9312-3C0F8E50B298}"/>
              </a:ext>
            </a:extLst>
          </p:cNvPr>
          <p:cNvPicPr/>
          <p:nvPr/>
        </p:nvPicPr>
        <p:blipFill rotWithShape="1">
          <a:blip r:embed="rId2"/>
          <a:srcRect t="7282"/>
          <a:stretch/>
        </p:blipFill>
        <p:spPr bwMode="auto">
          <a:xfrm>
            <a:off x="724499" y="1807496"/>
            <a:ext cx="5617210" cy="218694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6870CE5-395E-4141-9B1C-D48F8261D74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542567" y="1417674"/>
            <a:ext cx="4557823" cy="4040373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CC86B3C-3B95-4DCF-A593-93A9501212F5}"/>
              </a:ext>
            </a:extLst>
          </p:cNvPr>
          <p:cNvSpPr/>
          <p:nvPr/>
        </p:nvSpPr>
        <p:spPr>
          <a:xfrm>
            <a:off x="1034902" y="4339856"/>
            <a:ext cx="5720317" cy="2236381"/>
          </a:xfrm>
          <a:prstGeom prst="roundRect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Battery, a violent hardship‑driven crime, shows a strong positive correlation with poverty rates, while Theft, a property opportunity crime, correlates positively with per capita income, clustering in more affluent commercial districts.</a:t>
            </a:r>
          </a:p>
          <a:p>
            <a:pPr algn="ctr"/>
            <a:endParaRPr lang="en-US" sz="18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87410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38404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Crime vs Poverty &amp; Per Capita Income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268839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b="1" dirty="0"/>
          </a:p>
        </p:txBody>
      </p:sp>
      <p:sp>
        <p:nvSpPr>
          <p:cNvPr id="6" name="Shape 4"/>
          <p:cNvSpPr/>
          <p:nvPr/>
        </p:nvSpPr>
        <p:spPr>
          <a:xfrm>
            <a:off x="173865" y="1829070"/>
            <a:ext cx="11301210" cy="4127409"/>
          </a:xfrm>
          <a:prstGeom prst="roundRect">
            <a:avLst>
              <a:gd name="adj" fmla="val 139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40080" y="557784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379594" y="5389808"/>
            <a:ext cx="4187566" cy="599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759BA81-1760-400A-A819-C26239D8DAD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23570" y="2401909"/>
            <a:ext cx="4508661" cy="298789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97CBE36-09E7-4BF6-A877-D237C328E2CB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5183746" y="2260209"/>
            <a:ext cx="5396248" cy="2092849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062368A-43BD-4631-91A7-766DABD13DB1}"/>
              </a:ext>
            </a:extLst>
          </p:cNvPr>
          <p:cNvSpPr/>
          <p:nvPr/>
        </p:nvSpPr>
        <p:spPr>
          <a:xfrm>
            <a:off x="4475408" y="4642834"/>
            <a:ext cx="6812924" cy="1229932"/>
          </a:xfrm>
          <a:prstGeom prst="roundRect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Battery incidents rise with higher poverty rates, while Theft incidents increase alongside higher per capita income, reflecting hardship‑driven versus opportunity‑driven crime dynamics.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38404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Spatial Crime Patterns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73865" y="599138"/>
            <a:ext cx="10063552" cy="4565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b="1" dirty="0"/>
          </a:p>
        </p:txBody>
      </p:sp>
      <p:sp>
        <p:nvSpPr>
          <p:cNvPr id="6" name="Shape 4"/>
          <p:cNvSpPr/>
          <p:nvPr/>
        </p:nvSpPr>
        <p:spPr>
          <a:xfrm>
            <a:off x="173865" y="1829070"/>
            <a:ext cx="11301210" cy="4127409"/>
          </a:xfrm>
          <a:prstGeom prst="roundRect">
            <a:avLst>
              <a:gd name="adj" fmla="val 139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40080" y="557784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379594" y="5389808"/>
            <a:ext cx="4187566" cy="599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062368A-43BD-4631-91A7-766DABD13DB1}"/>
              </a:ext>
            </a:extLst>
          </p:cNvPr>
          <p:cNvSpPr/>
          <p:nvPr/>
        </p:nvSpPr>
        <p:spPr>
          <a:xfrm>
            <a:off x="244698" y="4642834"/>
            <a:ext cx="11159543" cy="1229932"/>
          </a:xfrm>
          <a:prstGeom prst="roundRect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Spatial alignment confirms that violent interpersonal conflict is geographically concentrated in South and West side neighborhoods experiencing systemic economic disinvestment. </a:t>
            </a:r>
          </a:p>
          <a:p>
            <a:endParaRPr lang="en-US"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F3E2B8A-CA86-40F6-B14A-A6B8B3062800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73865" y="2129504"/>
            <a:ext cx="5731510" cy="251333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B0D54F7-FBF3-47BD-9288-6199CB7C97C7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5660265" y="1829070"/>
            <a:ext cx="5452262" cy="2619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7605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9827" y="456411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Tree Model Evaluation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268839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b="1" dirty="0"/>
          </a:p>
        </p:txBody>
      </p:sp>
      <p:sp>
        <p:nvSpPr>
          <p:cNvPr id="6" name="Shape 4"/>
          <p:cNvSpPr/>
          <p:nvPr/>
        </p:nvSpPr>
        <p:spPr>
          <a:xfrm>
            <a:off x="83713" y="1829070"/>
            <a:ext cx="11391362" cy="4752034"/>
          </a:xfrm>
          <a:prstGeom prst="roundRect">
            <a:avLst>
              <a:gd name="adj" fmla="val 139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40080" y="557784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379594" y="5389808"/>
            <a:ext cx="4187566" cy="599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062368A-43BD-4631-91A7-766DABD13DB1}"/>
              </a:ext>
            </a:extLst>
          </p:cNvPr>
          <p:cNvSpPr/>
          <p:nvPr/>
        </p:nvSpPr>
        <p:spPr>
          <a:xfrm>
            <a:off x="160986" y="1881231"/>
            <a:ext cx="6671257" cy="2030729"/>
          </a:xfrm>
          <a:prstGeom prst="roundRect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8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6A6F9AB-A74D-4352-9136-2026FF6F10E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96213" y="3981612"/>
            <a:ext cx="5866327" cy="252984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9C46D0B-D9E7-44B3-9320-20E1040A8FDF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7179972" y="2408994"/>
            <a:ext cx="4281493" cy="3895859"/>
          </a:xfrm>
          <a:prstGeom prst="rect">
            <a:avLst/>
          </a:prstGeom>
        </p:spPr>
      </p:pic>
      <p:sp>
        <p:nvSpPr>
          <p:cNvPr id="15" name="Rectangle 4">
            <a:extLst>
              <a:ext uri="{FF2B5EF4-FFF2-40B4-BE49-F238E27FC236}">
                <a16:creationId xmlns:a16="http://schemas.microsoft.com/office/drawing/2014/main" id="{48ED122C-2E32-45F1-B998-4120DE45EA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213" y="2229922"/>
            <a:ext cx="6317088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decision tree's primary root split occurs on the community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ourier New" panose="02070309020205020404" pitchFamily="49" charset="0"/>
              </a:rPr>
              <a:t>hardship_index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(&gt; 68.5), followed by the temporal variable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ourier New" panose="02070309020205020404" pitchFamily="49" charset="0"/>
              </a:rPr>
              <a:t>hour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(&lt; 5 AM or &gt; 10 PM) that neighborhood economic hardship, when combined with late-night hours, serves as the strongest contextual predictor of violent crime incidents.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3408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342682"/>
            <a:ext cx="11225349" cy="8186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KNN &amp; Logistic Regression</a:t>
            </a:r>
          </a:p>
        </p:txBody>
      </p:sp>
      <p:sp>
        <p:nvSpPr>
          <p:cNvPr id="9" name="Text 7"/>
          <p:cNvSpPr/>
          <p:nvPr/>
        </p:nvSpPr>
        <p:spPr>
          <a:xfrm>
            <a:off x="777240" y="3977640"/>
            <a:ext cx="44805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806440" y="25146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806440" y="37216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806440" y="49286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806440" y="55321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D54E259-1BF2-44F9-9485-DE97C0EE994E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920838" y="1161288"/>
            <a:ext cx="4990565" cy="295995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70E9D64-E1B3-49BE-81BC-176EBCC30C68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6460043" y="1088266"/>
            <a:ext cx="4336961" cy="3148884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215BAF5-88CA-4D6A-BB14-71316F202339}"/>
              </a:ext>
            </a:extLst>
          </p:cNvPr>
          <p:cNvSpPr/>
          <p:nvPr/>
        </p:nvSpPr>
        <p:spPr>
          <a:xfrm>
            <a:off x="985236" y="4443211"/>
            <a:ext cx="9150439" cy="2067059"/>
          </a:xfrm>
          <a:prstGeom prst="roundRect">
            <a:avLst/>
          </a:prstGeom>
          <a:solidFill>
            <a:schemeClr val="tx2"/>
          </a:solidFill>
          <a:ln w="3175">
            <a:solidFill>
              <a:srgbClr val="F5F7F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KNN</a:t>
            </a:r>
            <a:r>
              <a:rPr lang="en-US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achieves 65% overall accuracy but fails to detect 82% of </a:t>
            </a:r>
            <a:r>
              <a:rPr lang="en-US" sz="16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Violent</a:t>
            </a:r>
            <a:r>
              <a:rPr lang="en-US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crimes (1,556 false negatives), defaulting instead to the majority </a:t>
            </a:r>
            <a:r>
              <a:rPr lang="en-US" sz="16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Property/Other</a:t>
            </a:r>
            <a:r>
              <a:rPr lang="en-US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class (87% recall).Severe class imbalance causes the KNN model to heavily favor the majority class, making it ineffective for identifying violent incidents with performance barely exceeding random chance (ROC-AUC 0.57). 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Logistic Regression</a:t>
            </a:r>
            <a:r>
              <a:rPr lang="en-US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achieves a balanced 56% recall across both classes but low overall performance (56% accuracy, 0.5725 ROC-AUC), with spatial coordinates—primarily latitude (-0.3127)—driving the largest coefficient impacts. It fails to capture non-linear spatial relationships, leaving predictive performance only slightly above random chance.</a:t>
            </a:r>
          </a:p>
        </p:txBody>
      </p:sp>
    </p:spTree>
    <p:extLst>
      <p:ext uri="{BB962C8B-B14F-4D97-AF65-F5344CB8AC3E}">
        <p14:creationId xmlns:p14="http://schemas.microsoft.com/office/powerpoint/2010/main" val="15594866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448056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Model Comparison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90282" y="1335024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/>
          </p:nvPr>
        </p:nvGraphicFramePr>
        <p:xfrm>
          <a:off x="457200" y="2148840"/>
          <a:ext cx="6766560" cy="219456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 (K=15)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 Accuracy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53.0%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65.0%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56.0%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Violent Crime Recall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65.0%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18.0%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56.0%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Violent Crime Precision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34.0%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39.0%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40.0%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 Score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2148840"/>
            <a:ext cx="6766560" cy="43891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214884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2834640" y="214884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150" dirty="0"/>
          </a:p>
        </p:txBody>
      </p:sp>
      <p:sp>
        <p:nvSpPr>
          <p:cNvPr id="6" name="Text 7"/>
          <p:cNvSpPr/>
          <p:nvPr/>
        </p:nvSpPr>
        <p:spPr>
          <a:xfrm>
            <a:off x="4297680" y="214884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(K=15)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760720" y="214884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2834640" y="2587752"/>
            <a:ext cx="1463040" cy="1755648"/>
          </a:xfrm>
          <a:prstGeom prst="rect">
            <a:avLst/>
          </a:prstGeom>
          <a:solidFill>
            <a:srgbClr val="B33A3A">
              <a:alpha val="12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7452360" y="2148840"/>
            <a:ext cx="4297680" cy="4096512"/>
          </a:xfrm>
          <a:prstGeom prst="roundRect">
            <a:avLst>
              <a:gd name="adj" fmla="val 1882"/>
            </a:avLst>
          </a:prstGeom>
          <a:solidFill>
            <a:srgbClr val="1E2761"/>
          </a:solidFill>
          <a:ln/>
        </p:spPr>
      </p:sp>
      <p:sp>
        <p:nvSpPr>
          <p:cNvPr id="14" name="Text 11"/>
          <p:cNvSpPr/>
          <p:nvPr/>
        </p:nvSpPr>
        <p:spPr>
          <a:xfrm>
            <a:off x="7726680" y="23317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SELECTION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726680" y="263347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Tree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7726680" y="3200400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</a:t>
            </a:r>
            <a:r>
              <a:rPr lang="en-US" b="1" dirty="0">
                <a:solidFill>
                  <a:srgbClr val="B3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3.6× more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violent crimes than KNN and beats Logistic Regression's violent detection by </a:t>
            </a:r>
            <a:r>
              <a:rPr lang="en-US" b="1" dirty="0">
                <a:solidFill>
                  <a:srgbClr val="B3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points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In dispatch, missed violent calls (false negatives) cost far more than precautionary patrols.</a:t>
            </a: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7726680" y="5074920"/>
            <a:ext cx="3794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is retained as a fast, transparent baseline in the deployed Streamlit bundle.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05273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572000"/>
            <a:ext cx="5486400" cy="54864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Key Findings and Recommendations</a:t>
            </a:r>
            <a:endParaRPr lang="en-US" sz="3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7252" y="1571513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100" dirty="0">
                <a:solidFill>
                  <a:srgbClr val="B33A3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FINDINGS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1963271"/>
            <a:ext cx="5394960" cy="1140309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5740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Crime volume fell 46% citywide over 25 years, but the drop is uneven across community areas.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13678" y="3183367"/>
            <a:ext cx="5406614" cy="1114313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777239" y="3275254"/>
            <a:ext cx="5049819" cy="9251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Violent crime tracks poverty &amp; hardship; property crime tracks economic activity &amp; income.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13678" y="4514626"/>
            <a:ext cx="5394960" cy="1274781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703333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A Decision Tree combining location, time, and hardship gives explainable 52.8% accuracy.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263640" y="1688951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100" dirty="0">
                <a:solidFill>
                  <a:srgbClr val="B33A3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RECOMMENDATIONS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263639" y="2057400"/>
            <a:ext cx="5560807" cy="1806388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2492188"/>
            <a:ext cx="4937760" cy="9825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B1F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Shift a share of public safety budgets toward social safety nets, youth employment &amp; community health in high-hardship South/West side districts.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263640" y="3931919"/>
            <a:ext cx="5560806" cy="1857487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4204895"/>
            <a:ext cx="4937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B1F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Integrate the Decision Tree into 911 dispatch software to auto-triage calls by location, time, and neighborhood hardship profile.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C240448-F7D8-4701-A844-794FAA2151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77060" cy="6858000"/>
          </a:xfrm>
          <a:prstGeom prst="rect">
            <a:avLst/>
          </a:prstGeom>
          <a:effectLst>
            <a:softEdge rad="12700"/>
          </a:effectLst>
        </p:spPr>
      </p:pic>
    </p:spTree>
    <p:extLst>
      <p:ext uri="{BB962C8B-B14F-4D97-AF65-F5344CB8AC3E}">
        <p14:creationId xmlns:p14="http://schemas.microsoft.com/office/powerpoint/2010/main" val="2362226535"/>
      </p:ext>
    </p:extLst>
  </p:cSld>
  <p:clrMapOvr>
    <a:masterClrMapping/>
  </p:clrMapOvr>
</p:sld>
</file>

<file path=ppt/theme/theme1.xml><?xml version="1.0" encoding="utf-8"?>
<a:theme xmlns:a="http://schemas.openxmlformats.org/drawingml/2006/main" name="Big Data Infographic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C64E"/>
      </a:accent1>
      <a:accent2>
        <a:srgbClr val="FF8001"/>
      </a:accent2>
      <a:accent3>
        <a:srgbClr val="5FD0DB"/>
      </a:accent3>
      <a:accent4>
        <a:srgbClr val="32AAD9"/>
      </a:accent4>
      <a:accent5>
        <a:srgbClr val="1A569C"/>
      </a:accent5>
      <a:accent6>
        <a:srgbClr val="D55800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Big Data Infographic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C64E"/>
      </a:accent1>
      <a:accent2>
        <a:srgbClr val="FF8001"/>
      </a:accent2>
      <a:accent3>
        <a:srgbClr val="5FD0DB"/>
      </a:accent3>
      <a:accent4>
        <a:srgbClr val="32AAD9"/>
      </a:accent4>
      <a:accent5>
        <a:srgbClr val="1A569C"/>
      </a:accent5>
      <a:accent6>
        <a:srgbClr val="D55800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91E8E29-1628-48F0-A442-448700481437}">
  <we:reference id="6a7bd4f3-0563-43af-8c08-79110eebdff6" version="1.1.4.0" store="EXCatalog" storeType="EXCatalog"/>
  <we:alternateReferences>
    <we:reference id="WA104381155" version="1.1.4.0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Big Data Infographics by Slidesgo</Template>
  <TotalTime>0</TotalTime>
  <Words>1173</Words>
  <Application>Microsoft Office PowerPoint</Application>
  <PresentationFormat>Widescreen</PresentationFormat>
  <Paragraphs>184</Paragraphs>
  <Slides>15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15</vt:i4>
      </vt:variant>
    </vt:vector>
  </HeadingPairs>
  <TitlesOfParts>
    <vt:vector size="29" baseType="lpstr">
      <vt:lpstr>Arial</vt:lpstr>
      <vt:lpstr>Calibri</vt:lpstr>
      <vt:lpstr>Cambria</vt:lpstr>
      <vt:lpstr>Courier New</vt:lpstr>
      <vt:lpstr>Fira Sans Extra Condensed</vt:lpstr>
      <vt:lpstr>Fira Sans Extra Condensed SemiBold</vt:lpstr>
      <vt:lpstr>Proxima Nova</vt:lpstr>
      <vt:lpstr>Proxima Nova Semibold</vt:lpstr>
      <vt:lpstr>Roboto</vt:lpstr>
      <vt:lpstr>Wingdings</vt:lpstr>
      <vt:lpstr>Big Data Infographics by Slidesgo</vt:lpstr>
      <vt:lpstr>Slidesgo Final Pages</vt:lpstr>
      <vt:lpstr>1_Big Data Infographics by Slidesgo</vt:lpstr>
      <vt:lpstr>1_Slidesgo Final Pages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2026-08-05T23:28:22Z</dcterms:created>
  <dcterms:modified xsi:type="dcterms:W3CDTF">2026-08-06T13:26:40Z</dcterms:modified>
</cp:coreProperties>
</file>